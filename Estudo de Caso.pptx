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Caique%20%20Rozemberg\Desktop\Casos%20de%20Estudo\UNIVERSAL%20ENTREVISTA\Visualizaco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Caique%20%20Rozemberg\Desktop\Casos%20de%20Estudo\UNIVERSAL%20ENTREVISTA\Visualizacoe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Caique%20%20Rozemberg\Desktop\Casos%20de%20Estudo\UNIVERSAL%20ENTREVISTA\Visualizacoe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pt-BR"/>
              <a:t>Faturamento</a:t>
            </a:r>
            <a:r>
              <a:rPr lang="pt-BR" baseline="0"/>
              <a:t> mensal</a:t>
            </a:r>
            <a:endParaRPr lang="pt-B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Visualizações!$C$1</c:f>
              <c:strCache>
                <c:ptCount val="1"/>
                <c:pt idx="0">
                  <c:v>PEDIDOS</c:v>
                </c:pt>
              </c:strCache>
            </c:strRef>
          </c:tx>
          <c:spPr>
            <a:solidFill>
              <a:schemeClr val="accent1"/>
            </a:solidFill>
            <a:ln>
              <a:noFill/>
            </a:ln>
            <a:effectLst/>
          </c:spPr>
          <c:invertIfNegative val="0"/>
          <c:cat>
            <c:multiLvlStrRef>
              <c:f>Visualizações!$A$2:$B$13</c:f>
              <c:multiLvlStrCache>
                <c:ptCount val="12"/>
                <c:lvl>
                  <c:pt idx="0">
                    <c:v>9099.89</c:v>
                  </c:pt>
                  <c:pt idx="1">
                    <c:v>10282.64</c:v>
                  </c:pt>
                  <c:pt idx="2">
                    <c:v>20935.14</c:v>
                  </c:pt>
                  <c:pt idx="3">
                    <c:v>10652.81</c:v>
                  </c:pt>
                  <c:pt idx="4">
                    <c:v>18073.24</c:v>
                  </c:pt>
                  <c:pt idx="5">
                    <c:v>13036.85</c:v>
                  </c:pt>
                  <c:pt idx="6">
                    <c:v>11205.41</c:v>
                  </c:pt>
                  <c:pt idx="7">
                    <c:v>13977.92</c:v>
                  </c:pt>
                  <c:pt idx="8">
                    <c:v>10204.17</c:v>
                  </c:pt>
                  <c:pt idx="9">
                    <c:v>25627.86</c:v>
                  </c:pt>
                  <c:pt idx="10">
                    <c:v>14282.71</c:v>
                  </c:pt>
                  <c:pt idx="11">
                    <c:v>16507.49</c:v>
                  </c:pt>
                </c:lvl>
                <c:lvl>
                  <c:pt idx="0">
                    <c:v>janeiro</c:v>
                  </c:pt>
                  <c:pt idx="1">
                    <c:v>fevereiro</c:v>
                  </c:pt>
                  <c:pt idx="2">
                    <c:v>março</c:v>
                  </c:pt>
                  <c:pt idx="3">
                    <c:v>abril</c:v>
                  </c:pt>
                  <c:pt idx="4">
                    <c:v>maio</c:v>
                  </c:pt>
                  <c:pt idx="5">
                    <c:v>junho</c:v>
                  </c:pt>
                  <c:pt idx="6">
                    <c:v>julho</c:v>
                  </c:pt>
                  <c:pt idx="7">
                    <c:v>agosto</c:v>
                  </c:pt>
                  <c:pt idx="8">
                    <c:v>setembro</c:v>
                  </c:pt>
                  <c:pt idx="9">
                    <c:v>outubro</c:v>
                  </c:pt>
                  <c:pt idx="10">
                    <c:v>novembro</c:v>
                  </c:pt>
                  <c:pt idx="11">
                    <c:v>dezembro</c:v>
                  </c:pt>
                </c:lvl>
              </c:multiLvlStrCache>
            </c:multiLvlStrRef>
          </c:cat>
          <c:val>
            <c:numRef>
              <c:f>Visualizações!$C$2:$C$13</c:f>
              <c:numCache>
                <c:formatCode>General</c:formatCode>
                <c:ptCount val="12"/>
                <c:pt idx="0">
                  <c:v>5</c:v>
                </c:pt>
                <c:pt idx="1">
                  <c:v>5</c:v>
                </c:pt>
                <c:pt idx="2">
                  <c:v>12</c:v>
                </c:pt>
                <c:pt idx="3">
                  <c:v>6</c:v>
                </c:pt>
                <c:pt idx="4">
                  <c:v>8</c:v>
                </c:pt>
                <c:pt idx="5">
                  <c:v>5</c:v>
                </c:pt>
                <c:pt idx="6">
                  <c:v>5</c:v>
                </c:pt>
                <c:pt idx="7">
                  <c:v>4</c:v>
                </c:pt>
                <c:pt idx="8">
                  <c:v>8</c:v>
                </c:pt>
                <c:pt idx="9">
                  <c:v>14</c:v>
                </c:pt>
                <c:pt idx="10">
                  <c:v>6</c:v>
                </c:pt>
                <c:pt idx="11">
                  <c:v>9</c:v>
                </c:pt>
              </c:numCache>
            </c:numRef>
          </c:val>
          <c:extLst>
            <c:ext xmlns:c16="http://schemas.microsoft.com/office/drawing/2014/chart" uri="{C3380CC4-5D6E-409C-BE32-E72D297353CC}">
              <c16:uniqueId val="{00000000-9E1B-4EF6-A02F-89286B94288E}"/>
            </c:ext>
          </c:extLst>
        </c:ser>
        <c:dLbls>
          <c:showLegendKey val="0"/>
          <c:showVal val="0"/>
          <c:showCatName val="0"/>
          <c:showSerName val="0"/>
          <c:showPercent val="0"/>
          <c:showBubbleSize val="0"/>
        </c:dLbls>
        <c:gapWidth val="219"/>
        <c:overlap val="-27"/>
        <c:axId val="955040552"/>
        <c:axId val="955041272"/>
      </c:barChart>
      <c:catAx>
        <c:axId val="955040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t" anchorCtr="0"/>
          <a:lstStyle/>
          <a:p>
            <a:pPr>
              <a:defRPr sz="900" b="0" i="0" u="none" strike="noStrike" kern="1200" baseline="0">
                <a:ln>
                  <a:noFill/>
                </a:ln>
                <a:solidFill>
                  <a:schemeClr val="tx1">
                    <a:lumMod val="65000"/>
                    <a:lumOff val="35000"/>
                  </a:schemeClr>
                </a:solidFill>
                <a:latin typeface="+mn-lt"/>
                <a:ea typeface="+mn-ea"/>
                <a:cs typeface="+mn-cs"/>
              </a:defRPr>
            </a:pPr>
            <a:endParaRPr lang="pt-BR"/>
          </a:p>
        </c:txPr>
        <c:crossAx val="955041272"/>
        <c:crosses val="autoZero"/>
        <c:auto val="1"/>
        <c:lblAlgn val="ctr"/>
        <c:lblOffset val="100"/>
        <c:noMultiLvlLbl val="0"/>
      </c:catAx>
      <c:valAx>
        <c:axId val="9550412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9550405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pt-BR"/>
              <a:t>Faturamento</a:t>
            </a:r>
            <a:r>
              <a:rPr lang="pt-BR" baseline="0"/>
              <a:t> por categoria</a:t>
            </a:r>
            <a:endParaRPr lang="pt-B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Visualizações!$C$16</c:f>
              <c:strCache>
                <c:ptCount val="1"/>
                <c:pt idx="0">
                  <c:v>QTD_ITENS_VENDIDOS</c:v>
                </c:pt>
              </c:strCache>
            </c:strRef>
          </c:tx>
          <c:spPr>
            <a:solidFill>
              <a:schemeClr val="accent1"/>
            </a:solidFill>
            <a:ln>
              <a:noFill/>
            </a:ln>
            <a:effectLst/>
          </c:spPr>
          <c:invertIfNegative val="0"/>
          <c:cat>
            <c:multiLvlStrRef>
              <c:f>Visualizações!$A$17:$B$21</c:f>
              <c:multiLvlStrCache>
                <c:ptCount val="5"/>
                <c:lvl>
                  <c:pt idx="0">
                    <c:v>38434.1</c:v>
                  </c:pt>
                  <c:pt idx="1">
                    <c:v>37634.22</c:v>
                  </c:pt>
                  <c:pt idx="2">
                    <c:v>36765.97</c:v>
                  </c:pt>
                  <c:pt idx="3">
                    <c:v>36655.4</c:v>
                  </c:pt>
                  <c:pt idx="4">
                    <c:v>24396.44</c:v>
                  </c:pt>
                </c:lvl>
                <c:lvl>
                  <c:pt idx="0">
                    <c:v>Esporte</c:v>
                  </c:pt>
                  <c:pt idx="1">
                    <c:v>Eletronicos</c:v>
                  </c:pt>
                  <c:pt idx="2">
                    <c:v>Livros</c:v>
                  </c:pt>
                  <c:pt idx="3">
                    <c:v>Casa</c:v>
                  </c:pt>
                  <c:pt idx="4">
                    <c:v>Moda</c:v>
                  </c:pt>
                </c:lvl>
              </c:multiLvlStrCache>
            </c:multiLvlStrRef>
          </c:cat>
          <c:val>
            <c:numRef>
              <c:f>Visualizações!$C$17:$C$21</c:f>
              <c:numCache>
                <c:formatCode>General</c:formatCode>
                <c:ptCount val="5"/>
                <c:pt idx="0">
                  <c:v>101</c:v>
                </c:pt>
                <c:pt idx="1">
                  <c:v>76</c:v>
                </c:pt>
                <c:pt idx="2">
                  <c:v>84</c:v>
                </c:pt>
                <c:pt idx="3">
                  <c:v>85</c:v>
                </c:pt>
                <c:pt idx="4">
                  <c:v>63</c:v>
                </c:pt>
              </c:numCache>
            </c:numRef>
          </c:val>
          <c:extLst>
            <c:ext xmlns:c16="http://schemas.microsoft.com/office/drawing/2014/chart" uri="{C3380CC4-5D6E-409C-BE32-E72D297353CC}">
              <c16:uniqueId val="{00000000-A989-424F-B878-BC8E418F29AB}"/>
            </c:ext>
          </c:extLst>
        </c:ser>
        <c:dLbls>
          <c:showLegendKey val="0"/>
          <c:showVal val="0"/>
          <c:showCatName val="0"/>
          <c:showSerName val="0"/>
          <c:showPercent val="0"/>
          <c:showBubbleSize val="0"/>
        </c:dLbls>
        <c:gapWidth val="219"/>
        <c:overlap val="-27"/>
        <c:axId val="827717608"/>
        <c:axId val="827715808"/>
      </c:barChart>
      <c:catAx>
        <c:axId val="827717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827715808"/>
        <c:crosses val="autoZero"/>
        <c:auto val="1"/>
        <c:lblAlgn val="ctr"/>
        <c:lblOffset val="100"/>
        <c:noMultiLvlLbl val="0"/>
      </c:catAx>
      <c:valAx>
        <c:axId val="827715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8277176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Faturamento</a:t>
            </a:r>
            <a:r>
              <a:rPr lang="en-US" baseline="0"/>
              <a:t> por estado</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Visualizações!$C$23</c:f>
              <c:strCache>
                <c:ptCount val="1"/>
                <c:pt idx="0">
                  <c:v>QTD_PEDIDOS</c:v>
                </c:pt>
              </c:strCache>
            </c:strRef>
          </c:tx>
          <c:spPr>
            <a:solidFill>
              <a:schemeClr val="accent1"/>
            </a:solidFill>
            <a:ln>
              <a:noFill/>
            </a:ln>
            <a:effectLst/>
          </c:spPr>
          <c:invertIfNegative val="0"/>
          <c:cat>
            <c:multiLvlStrRef>
              <c:f>Visualizações!$A$24:$B$28</c:f>
              <c:multiLvlStrCache>
                <c:ptCount val="5"/>
                <c:lvl>
                  <c:pt idx="0">
                    <c:v>41678.38</c:v>
                  </c:pt>
                  <c:pt idx="1">
                    <c:v>35861.99</c:v>
                  </c:pt>
                  <c:pt idx="2">
                    <c:v>30481.68</c:v>
                  </c:pt>
                  <c:pt idx="3">
                    <c:v>27925.2</c:v>
                  </c:pt>
                  <c:pt idx="4">
                    <c:v>21330.92</c:v>
                  </c:pt>
                </c:lvl>
                <c:lvl>
                  <c:pt idx="0">
                    <c:v>SP</c:v>
                  </c:pt>
                  <c:pt idx="1">
                    <c:v>BA</c:v>
                  </c:pt>
                  <c:pt idx="2">
                    <c:v>RJ</c:v>
                  </c:pt>
                  <c:pt idx="3">
                    <c:v>RS</c:v>
                  </c:pt>
                  <c:pt idx="4">
                    <c:v>PR</c:v>
                  </c:pt>
                </c:lvl>
              </c:multiLvlStrCache>
            </c:multiLvlStrRef>
          </c:cat>
          <c:val>
            <c:numRef>
              <c:f>Visualizações!$C$24:$C$28</c:f>
              <c:numCache>
                <c:formatCode>General</c:formatCode>
                <c:ptCount val="5"/>
                <c:pt idx="0">
                  <c:v>21</c:v>
                </c:pt>
                <c:pt idx="1">
                  <c:v>18</c:v>
                </c:pt>
                <c:pt idx="2">
                  <c:v>12</c:v>
                </c:pt>
                <c:pt idx="3">
                  <c:v>15</c:v>
                </c:pt>
                <c:pt idx="4">
                  <c:v>12</c:v>
                </c:pt>
              </c:numCache>
            </c:numRef>
          </c:val>
          <c:extLst>
            <c:ext xmlns:c16="http://schemas.microsoft.com/office/drawing/2014/chart" uri="{C3380CC4-5D6E-409C-BE32-E72D297353CC}">
              <c16:uniqueId val="{00000000-9D6D-4644-B046-6E9B0F3A3CA7}"/>
            </c:ext>
          </c:extLst>
        </c:ser>
        <c:dLbls>
          <c:showLegendKey val="0"/>
          <c:showVal val="0"/>
          <c:showCatName val="0"/>
          <c:showSerName val="0"/>
          <c:showPercent val="0"/>
          <c:showBubbleSize val="0"/>
        </c:dLbls>
        <c:gapWidth val="219"/>
        <c:overlap val="-27"/>
        <c:axId val="620253784"/>
        <c:axId val="620253424"/>
      </c:barChart>
      <c:catAx>
        <c:axId val="620253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620253424"/>
        <c:crosses val="autoZero"/>
        <c:auto val="1"/>
        <c:lblAlgn val="ctr"/>
        <c:lblOffset val="100"/>
        <c:noMultiLvlLbl val="0"/>
      </c:catAx>
      <c:valAx>
        <c:axId val="6202534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620253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958783-63BF-4CC3-B018-F617A7B1335B}" type="datetimeFigureOut">
              <a:rPr lang="pt-BR" smtClean="0"/>
              <a:t>23/12/2025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2A8814-F08F-4099-AA3F-084CC9ED5E03}" type="slidenum">
              <a:rPr lang="pt-BR" smtClean="0"/>
              <a:t>‹nº›</a:t>
            </a:fld>
            <a:endParaRPr lang="pt-BR"/>
          </a:p>
        </p:txBody>
      </p:sp>
    </p:spTree>
    <p:extLst>
      <p:ext uri="{BB962C8B-B14F-4D97-AF65-F5344CB8AC3E}">
        <p14:creationId xmlns:p14="http://schemas.microsoft.com/office/powerpoint/2010/main" val="2651038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B52A8814-F08F-4099-AA3F-084CC9ED5E03}" type="slidenum">
              <a:rPr lang="pt-BR" smtClean="0"/>
              <a:t>1</a:t>
            </a:fld>
            <a:endParaRPr lang="pt-BR"/>
          </a:p>
        </p:txBody>
      </p:sp>
    </p:spTree>
    <p:extLst>
      <p:ext uri="{BB962C8B-B14F-4D97-AF65-F5344CB8AC3E}">
        <p14:creationId xmlns:p14="http://schemas.microsoft.com/office/powerpoint/2010/main" val="2956683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52A8814-F08F-4099-AA3F-084CC9ED5E03}" type="slidenum">
              <a:rPr lang="pt-BR" smtClean="0"/>
              <a:t>3</a:t>
            </a:fld>
            <a:endParaRPr lang="pt-BR"/>
          </a:p>
        </p:txBody>
      </p:sp>
    </p:spTree>
    <p:extLst>
      <p:ext uri="{BB962C8B-B14F-4D97-AF65-F5344CB8AC3E}">
        <p14:creationId xmlns:p14="http://schemas.microsoft.com/office/powerpoint/2010/main" val="402862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A846CF-D1FD-B779-8C79-8CEB9E54F02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E87CFB38-6143-93C3-ED50-4F61BA9F18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698C39D4-CF49-8E3C-B527-D648737C4A50}"/>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5" name="Espaço Reservado para Rodapé 4">
            <a:extLst>
              <a:ext uri="{FF2B5EF4-FFF2-40B4-BE49-F238E27FC236}">
                <a16:creationId xmlns:a16="http://schemas.microsoft.com/office/drawing/2014/main" id="{9A0BF983-5DAD-EE78-D44A-6B0976D08A4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28BF2B3-AFFB-19CE-F76A-39386BEAC689}"/>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1504105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C73E08-3B4F-578F-C262-14269082E9E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6576CE4-5AC1-4C6E-E964-CF6EFFE20F64}"/>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43E649E-4078-C95A-D6B7-C06C1CB57246}"/>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5" name="Espaço Reservado para Rodapé 4">
            <a:extLst>
              <a:ext uri="{FF2B5EF4-FFF2-40B4-BE49-F238E27FC236}">
                <a16:creationId xmlns:a16="http://schemas.microsoft.com/office/drawing/2014/main" id="{509A7B85-1876-1E89-AE32-F736BC59A76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1B09BD4-0712-D7BB-67C2-0BB698E7E5AC}"/>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1920740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9B7F8D-6312-A79C-5FE3-00F900C8E594}"/>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1C885AF9-C9D0-1FB6-896A-44C406045E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3030414E-5682-C38D-8BA0-E797776C8B20}"/>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5" name="Espaço Reservado para Rodapé 4">
            <a:extLst>
              <a:ext uri="{FF2B5EF4-FFF2-40B4-BE49-F238E27FC236}">
                <a16:creationId xmlns:a16="http://schemas.microsoft.com/office/drawing/2014/main" id="{37B1432A-8EC5-C00D-DDC0-B1970860CB6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777A57C-C6C1-777C-E901-848F6732873A}"/>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2762622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AD403C-93FD-B446-5BB3-B487EFCFB49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90ED1D8-5CCE-AD4F-7F2F-DDF7CAC44DC6}"/>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0B9F49F4-7002-5D66-DF03-C3849BBC5B7A}"/>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193F6B3-BA17-941F-9ACD-E2CA71BFACB6}"/>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6" name="Espaço Reservado para Rodapé 5">
            <a:extLst>
              <a:ext uri="{FF2B5EF4-FFF2-40B4-BE49-F238E27FC236}">
                <a16:creationId xmlns:a16="http://schemas.microsoft.com/office/drawing/2014/main" id="{0710D27F-C50A-AD27-F210-17E841214E7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EEE48A1-DB74-4A80-7EDA-D9BC7E808FC0}"/>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3857128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35D8F5-E9F2-316C-1AD4-C6B44A10530B}"/>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9406793D-DEAE-9EDF-D069-3695922113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665F9441-4AA0-4F2E-CC64-86008ECE3253}"/>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CFA3F42B-B18B-F5C7-BE56-C8E0BCC660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AF9CFBD3-34E9-D438-39C8-F805ECBE24B6}"/>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E484CDE-C51A-FB30-52AF-3D2C31668E58}"/>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8" name="Espaço Reservado para Rodapé 7">
            <a:extLst>
              <a:ext uri="{FF2B5EF4-FFF2-40B4-BE49-F238E27FC236}">
                <a16:creationId xmlns:a16="http://schemas.microsoft.com/office/drawing/2014/main" id="{9E46D7B6-B5D7-53DC-E846-9B0B1C2D23B8}"/>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25F7C8B5-52B5-C234-8ED2-DED8F8B21A8E}"/>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744876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0D1805-1C1E-F46E-0DA4-29C756F8612E}"/>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8768C304-F94F-A1F2-B17B-E9D899CDF77F}"/>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4" name="Espaço Reservado para Rodapé 3">
            <a:extLst>
              <a:ext uri="{FF2B5EF4-FFF2-40B4-BE49-F238E27FC236}">
                <a16:creationId xmlns:a16="http://schemas.microsoft.com/office/drawing/2014/main" id="{7D79B55F-07CE-320B-C640-8EA10926F21F}"/>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89922971-25EF-DDBF-E824-FF14DBBA2E5F}"/>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2540647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410FCD1D-74F9-44D9-6D35-AD4ED7CEA334}"/>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3" name="Espaço Reservado para Rodapé 2">
            <a:extLst>
              <a:ext uri="{FF2B5EF4-FFF2-40B4-BE49-F238E27FC236}">
                <a16:creationId xmlns:a16="http://schemas.microsoft.com/office/drawing/2014/main" id="{E3BF4EC7-9DBA-0B9E-5E0D-4A39A891A25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F4FF1BE1-7297-873A-3D32-1B62C8A8B8B8}"/>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3250920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A2D826-A7EE-E440-FBCF-A4E51F5ABD7E}"/>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14112599-2E87-8D45-FFDD-BE61CFCD78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E135D911-B68D-CAD9-9E88-6BEA633F22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F24C5263-D121-FA55-D41B-92509F98355A}"/>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6" name="Espaço Reservado para Rodapé 5">
            <a:extLst>
              <a:ext uri="{FF2B5EF4-FFF2-40B4-BE49-F238E27FC236}">
                <a16:creationId xmlns:a16="http://schemas.microsoft.com/office/drawing/2014/main" id="{B77E7B4D-4358-23CB-41B8-191F0B40B7B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57C1977-7671-515D-63A4-6A348487B4B9}"/>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1421864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A4A563-C8A5-9CB6-E454-595F4A4CAE0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0618CAF5-CAE6-EFE8-E26C-8A1554C061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5644EFE-1C96-3F5B-F940-AE8BF1712B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5B3D1EE-F594-2305-0100-C5C55094455F}"/>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6" name="Espaço Reservado para Rodapé 5">
            <a:extLst>
              <a:ext uri="{FF2B5EF4-FFF2-40B4-BE49-F238E27FC236}">
                <a16:creationId xmlns:a16="http://schemas.microsoft.com/office/drawing/2014/main" id="{34EE6464-32A1-0F9C-EC19-861EDDF78D4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C96F23F-A821-58F6-FDD9-D7C23E141C20}"/>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3501976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898CB4-F4EC-389E-AF8F-865E223EF568}"/>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E3D6D4D-6847-138F-18D2-F5066DE3A1F4}"/>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1F51BE2-F568-D8A5-8D55-1D63232E01CB}"/>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5" name="Espaço Reservado para Rodapé 4">
            <a:extLst>
              <a:ext uri="{FF2B5EF4-FFF2-40B4-BE49-F238E27FC236}">
                <a16:creationId xmlns:a16="http://schemas.microsoft.com/office/drawing/2014/main" id="{5AD0B31D-8CE5-3E99-FAC1-C382125DC47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6DD71D3-5384-5B4E-1446-2F83A02CA262}"/>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344355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933FEB4-10E5-5A14-4330-9BFA32C4BCC4}"/>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8A6C4CAB-E61F-E83B-160D-BBBE12DA9476}"/>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AD27A8F-F868-88F4-FF24-F6D92B2E85E7}"/>
              </a:ext>
            </a:extLst>
          </p:cNvPr>
          <p:cNvSpPr>
            <a:spLocks noGrp="1"/>
          </p:cNvSpPr>
          <p:nvPr>
            <p:ph type="dt" sz="half" idx="10"/>
          </p:nvPr>
        </p:nvSpPr>
        <p:spPr/>
        <p:txBody>
          <a:bodyPr/>
          <a:lstStyle/>
          <a:p>
            <a:fld id="{E17FFC1D-16B9-4781-A010-3BA88795FB5F}" type="datetimeFigureOut">
              <a:rPr lang="pt-BR" smtClean="0"/>
              <a:t>23/12/2025</a:t>
            </a:fld>
            <a:endParaRPr lang="pt-BR"/>
          </a:p>
        </p:txBody>
      </p:sp>
      <p:sp>
        <p:nvSpPr>
          <p:cNvPr id="5" name="Espaço Reservado para Rodapé 4">
            <a:extLst>
              <a:ext uri="{FF2B5EF4-FFF2-40B4-BE49-F238E27FC236}">
                <a16:creationId xmlns:a16="http://schemas.microsoft.com/office/drawing/2014/main" id="{6904A358-1A1A-0004-28F8-E1A066AB0B6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55CF565-F9E5-CF80-CE6E-A0DEB5523FDD}"/>
              </a:ext>
            </a:extLst>
          </p:cNvPr>
          <p:cNvSpPr>
            <a:spLocks noGrp="1"/>
          </p:cNvSpPr>
          <p:nvPr>
            <p:ph type="sldNum" sz="quarter" idx="12"/>
          </p:nvPr>
        </p:nvSpPr>
        <p:spPr/>
        <p:txBody>
          <a:bodyPr/>
          <a:lstStyle/>
          <a:p>
            <a:fld id="{7143C812-211D-48A0-9FDE-AA64E6B030C5}" type="slidenum">
              <a:rPr lang="pt-BR" smtClean="0"/>
              <a:t>‹nº›</a:t>
            </a:fld>
            <a:endParaRPr lang="pt-BR"/>
          </a:p>
        </p:txBody>
      </p:sp>
    </p:spTree>
    <p:extLst>
      <p:ext uri="{BB962C8B-B14F-4D97-AF65-F5344CB8AC3E}">
        <p14:creationId xmlns:p14="http://schemas.microsoft.com/office/powerpoint/2010/main" val="2269314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8CDC664B-F7A9-B2C2-870F-A753D66592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F632A834-A90A-1676-EEC3-1AD0673583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35DD703-442F-ADB8-4D2A-271C537682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7FFC1D-16B9-4781-A010-3BA88795FB5F}" type="datetimeFigureOut">
              <a:rPr lang="pt-BR" smtClean="0"/>
              <a:t>23/12/2025</a:t>
            </a:fld>
            <a:endParaRPr lang="pt-BR"/>
          </a:p>
        </p:txBody>
      </p:sp>
      <p:sp>
        <p:nvSpPr>
          <p:cNvPr id="5" name="Espaço Reservado para Rodapé 4">
            <a:extLst>
              <a:ext uri="{FF2B5EF4-FFF2-40B4-BE49-F238E27FC236}">
                <a16:creationId xmlns:a16="http://schemas.microsoft.com/office/drawing/2014/main" id="{98555BD8-8054-4857-D9D9-133DD9F46E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4595047F-72E0-929E-622F-6092B3C05C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43C812-211D-48A0-9FDE-AA64E6B030C5}" type="slidenum">
              <a:rPr lang="pt-BR" smtClean="0"/>
              <a:t>‹nº›</a:t>
            </a:fld>
            <a:endParaRPr lang="pt-BR"/>
          </a:p>
        </p:txBody>
      </p:sp>
    </p:spTree>
    <p:extLst>
      <p:ext uri="{BB962C8B-B14F-4D97-AF65-F5344CB8AC3E}">
        <p14:creationId xmlns:p14="http://schemas.microsoft.com/office/powerpoint/2010/main" val="111412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CB86C-74FC-875E-C811-6F8ED94B6050}"/>
              </a:ext>
            </a:extLst>
          </p:cNvPr>
          <p:cNvSpPr>
            <a:spLocks noGrp="1"/>
          </p:cNvSpPr>
          <p:nvPr>
            <p:ph type="ctrTitle"/>
          </p:nvPr>
        </p:nvSpPr>
        <p:spPr/>
        <p:txBody>
          <a:bodyPr/>
          <a:lstStyle/>
          <a:p>
            <a:r>
              <a:rPr lang="pt-BR" dirty="0"/>
              <a:t>Estudo de Caso</a:t>
            </a:r>
            <a:br>
              <a:rPr lang="pt-BR" dirty="0"/>
            </a:br>
            <a:endParaRPr lang="pt-BR" dirty="0"/>
          </a:p>
        </p:txBody>
      </p:sp>
      <p:sp>
        <p:nvSpPr>
          <p:cNvPr id="3" name="Subtítulo 2">
            <a:extLst>
              <a:ext uri="{FF2B5EF4-FFF2-40B4-BE49-F238E27FC236}">
                <a16:creationId xmlns:a16="http://schemas.microsoft.com/office/drawing/2014/main" id="{C5D90745-5A7D-CE92-9C9C-61B5E19C3DC0}"/>
              </a:ext>
            </a:extLst>
          </p:cNvPr>
          <p:cNvSpPr>
            <a:spLocks noGrp="1"/>
          </p:cNvSpPr>
          <p:nvPr>
            <p:ph type="subTitle" idx="1"/>
          </p:nvPr>
        </p:nvSpPr>
        <p:spPr/>
        <p:txBody>
          <a:bodyPr/>
          <a:lstStyle/>
          <a:p>
            <a:r>
              <a:rPr lang="pt-BR" dirty="0"/>
              <a:t>Analise de dados - </a:t>
            </a:r>
            <a:r>
              <a:rPr lang="pt-BR" dirty="0" err="1"/>
              <a:t>LojaFácil</a:t>
            </a:r>
            <a:endParaRPr lang="pt-BR" dirty="0"/>
          </a:p>
        </p:txBody>
      </p:sp>
    </p:spTree>
    <p:extLst>
      <p:ext uri="{BB962C8B-B14F-4D97-AF65-F5344CB8AC3E}">
        <p14:creationId xmlns:p14="http://schemas.microsoft.com/office/powerpoint/2010/main" val="3204639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BCA58-C56F-69A5-8B5C-C9F5BAF389DF}"/>
              </a:ext>
            </a:extLst>
          </p:cNvPr>
          <p:cNvSpPr>
            <a:spLocks noGrp="1"/>
          </p:cNvSpPr>
          <p:nvPr>
            <p:ph type="title"/>
          </p:nvPr>
        </p:nvSpPr>
        <p:spPr/>
        <p:txBody>
          <a:bodyPr/>
          <a:lstStyle/>
          <a:p>
            <a:r>
              <a:rPr lang="pt-BR" dirty="0"/>
              <a:t>Contexto do estudo </a:t>
            </a:r>
            <a:r>
              <a:rPr lang="pt-BR" dirty="0" err="1"/>
              <a:t>LojaFácil</a:t>
            </a:r>
            <a:endParaRPr lang="pt-BR" dirty="0"/>
          </a:p>
        </p:txBody>
      </p:sp>
      <p:sp>
        <p:nvSpPr>
          <p:cNvPr id="3" name="Espaço Reservado para Conteúdo 2">
            <a:extLst>
              <a:ext uri="{FF2B5EF4-FFF2-40B4-BE49-F238E27FC236}">
                <a16:creationId xmlns:a16="http://schemas.microsoft.com/office/drawing/2014/main" id="{AA2A3913-692D-5AF2-E38D-808048787168}"/>
              </a:ext>
            </a:extLst>
          </p:cNvPr>
          <p:cNvSpPr>
            <a:spLocks noGrp="1"/>
          </p:cNvSpPr>
          <p:nvPr>
            <p:ph idx="1"/>
          </p:nvPr>
        </p:nvSpPr>
        <p:spPr/>
        <p:txBody>
          <a:bodyPr/>
          <a:lstStyle/>
          <a:p>
            <a:r>
              <a:rPr lang="pt-BR" dirty="0"/>
              <a:t>Entender melhor o comportamento dos clientes</a:t>
            </a:r>
          </a:p>
          <a:p>
            <a:r>
              <a:rPr lang="pt-BR" dirty="0"/>
              <a:t>Analisar o desempenho de vendas</a:t>
            </a:r>
          </a:p>
          <a:p>
            <a:r>
              <a:rPr lang="pt-BR" dirty="0"/>
              <a:t>Identificar oportunidades simples de melhoria</a:t>
            </a:r>
          </a:p>
        </p:txBody>
      </p:sp>
    </p:spTree>
    <p:extLst>
      <p:ext uri="{BB962C8B-B14F-4D97-AF65-F5344CB8AC3E}">
        <p14:creationId xmlns:p14="http://schemas.microsoft.com/office/powerpoint/2010/main" val="620668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9AE78A-66D5-E066-3374-4D6EFCD23D1F}"/>
              </a:ext>
            </a:extLst>
          </p:cNvPr>
          <p:cNvSpPr>
            <a:spLocks noGrp="1"/>
          </p:cNvSpPr>
          <p:nvPr>
            <p:ph type="title"/>
          </p:nvPr>
        </p:nvSpPr>
        <p:spPr>
          <a:xfrm>
            <a:off x="986117" y="183401"/>
            <a:ext cx="8978153" cy="821112"/>
          </a:xfrm>
        </p:spPr>
        <p:txBody>
          <a:bodyPr>
            <a:normAutofit/>
          </a:bodyPr>
          <a:lstStyle/>
          <a:p>
            <a:r>
              <a:rPr lang="pt-BR" sz="3600" dirty="0"/>
              <a:t>Entendimento e preparação dos dados </a:t>
            </a:r>
          </a:p>
        </p:txBody>
      </p:sp>
      <p:sp>
        <p:nvSpPr>
          <p:cNvPr id="3" name="Espaço Reservado para Conteúdo 2">
            <a:extLst>
              <a:ext uri="{FF2B5EF4-FFF2-40B4-BE49-F238E27FC236}">
                <a16:creationId xmlns:a16="http://schemas.microsoft.com/office/drawing/2014/main" id="{EFD569C3-3755-CE88-1C14-B4FFCCF7D1C2}"/>
              </a:ext>
            </a:extLst>
          </p:cNvPr>
          <p:cNvSpPr>
            <a:spLocks noGrp="1"/>
          </p:cNvSpPr>
          <p:nvPr>
            <p:ph idx="1"/>
          </p:nvPr>
        </p:nvSpPr>
        <p:spPr>
          <a:xfrm>
            <a:off x="838200" y="1004513"/>
            <a:ext cx="10515600" cy="5670086"/>
          </a:xfrm>
        </p:spPr>
        <p:txBody>
          <a:bodyPr>
            <a:normAutofit/>
          </a:bodyPr>
          <a:lstStyle/>
          <a:p>
            <a:pPr marL="342900" indent="-342900">
              <a:buFont typeface="+mj-lt"/>
              <a:buAutoNum type="arabicPeriod"/>
            </a:pPr>
            <a:r>
              <a:rPr lang="pt-BR" sz="1400" dirty="0"/>
              <a:t>Tabelas</a:t>
            </a:r>
          </a:p>
          <a:p>
            <a:r>
              <a:rPr lang="pt-BR" sz="1400" dirty="0"/>
              <a:t>Clientes</a:t>
            </a:r>
          </a:p>
          <a:p>
            <a:pPr marL="457200" lvl="1" indent="0">
              <a:buNone/>
            </a:pPr>
            <a:r>
              <a:rPr lang="pt-BR" sz="1000" dirty="0"/>
              <a:t>Essa tabela armazenas as informações cadastrais dos clientes e tem como PK o campo </a:t>
            </a:r>
            <a:r>
              <a:rPr lang="pt-BR" sz="1000" dirty="0" err="1"/>
              <a:t>cliente_id</a:t>
            </a:r>
            <a:r>
              <a:rPr lang="pt-BR" sz="1000" dirty="0"/>
              <a:t>, também indica o canal pelo qual o cliente foi adquirido (site, app ou indicação).</a:t>
            </a:r>
            <a:endParaRPr lang="pt-BR" sz="1400" dirty="0"/>
          </a:p>
          <a:p>
            <a:r>
              <a:rPr lang="pt-BR" sz="1400" dirty="0"/>
              <a:t>Pedidos</a:t>
            </a:r>
          </a:p>
          <a:p>
            <a:pPr marL="457200" lvl="1" indent="0">
              <a:buNone/>
            </a:pPr>
            <a:r>
              <a:rPr lang="pt-BR" sz="1000" dirty="0"/>
              <a:t>Registra pedidos realizados pelos clientes, e cada pedido possui um </a:t>
            </a:r>
            <a:r>
              <a:rPr lang="pt-BR" sz="1000" dirty="0" err="1"/>
              <a:t>pedido_id</a:t>
            </a:r>
            <a:r>
              <a:rPr lang="pt-BR" sz="1000" dirty="0"/>
              <a:t>(PK), que é associada a um cliente pelo </a:t>
            </a:r>
            <a:r>
              <a:rPr lang="pt-BR" sz="1000" dirty="0" err="1"/>
              <a:t>cliente_id</a:t>
            </a:r>
            <a:r>
              <a:rPr lang="pt-BR" sz="1000" dirty="0"/>
              <a:t>, contém data do pedido, valor total, status se foi pago, cancelado ou esta em aberto e a forma de pagamento utilizada.</a:t>
            </a:r>
            <a:endParaRPr lang="pt-BR" sz="1400" dirty="0"/>
          </a:p>
          <a:p>
            <a:r>
              <a:rPr lang="pt-BR" sz="1400" dirty="0"/>
              <a:t>Itens pedidos</a:t>
            </a:r>
          </a:p>
          <a:p>
            <a:pPr marL="457200" lvl="1" indent="0">
              <a:buNone/>
            </a:pPr>
            <a:r>
              <a:rPr lang="pt-BR" sz="1000" dirty="0"/>
              <a:t>Detalha os itens pedidos, varias linha podem ser referente ao mesmo pedido, mas existe um denominador único para identificar qual é o numero correto do pedido o </a:t>
            </a:r>
            <a:r>
              <a:rPr lang="pt-BR" sz="1000" dirty="0" err="1"/>
              <a:t>pedido_id</a:t>
            </a:r>
            <a:r>
              <a:rPr lang="pt-BR" sz="1000" dirty="0"/>
              <a:t>, sendo assim cada linha ira representar um produto , na tabela também terá a quantidade o preço unitário década produto, informando categoria do produto.</a:t>
            </a:r>
          </a:p>
          <a:p>
            <a:r>
              <a:rPr lang="pt-BR" sz="1400" dirty="0"/>
              <a:t>Campanha marketing</a:t>
            </a:r>
          </a:p>
          <a:p>
            <a:pPr marL="457200" lvl="1" indent="0">
              <a:buNone/>
            </a:pPr>
            <a:r>
              <a:rPr lang="pt-BR" sz="1000" dirty="0"/>
              <a:t>Tabela que armazenas as campanhas de marketing utilizadas ao longo ano com data de inicio e fim, nome das campanhas e quais canais foram utilizados.</a:t>
            </a:r>
          </a:p>
          <a:p>
            <a:pPr marL="342900" indent="-342900">
              <a:buFont typeface="+mj-lt"/>
              <a:buAutoNum type="arabicPeriod" startAt="2"/>
            </a:pPr>
            <a:r>
              <a:rPr lang="pt-BR" sz="1400" dirty="0"/>
              <a:t>Problemas nos dados</a:t>
            </a:r>
          </a:p>
          <a:p>
            <a:pPr marL="457200" lvl="1" indent="0">
              <a:buNone/>
            </a:pPr>
            <a:r>
              <a:rPr lang="pt-BR" sz="1000" dirty="0"/>
              <a:t>Durante a análise dos </a:t>
            </a:r>
            <a:r>
              <a:rPr lang="pt-BR" sz="1000" dirty="0" err="1"/>
              <a:t>datasets</a:t>
            </a:r>
            <a:r>
              <a:rPr lang="pt-BR" sz="1000" dirty="0"/>
              <a:t>, foi identificado que os principais problemas de qualidade não estavam relacionados a valores nulos, linhas duplicadas ou datas inconsistentes, que são erros comumente encontrados e que poderiam comprometer análises posteriores, os problemas encontrados eram a falta de padronização dos dados. Entre eles, destacam-se valores numéricos sem um padrão consistente de casas decimais, como registros contendo apenas uma casa decimal após o ponto, enquanto outros apresentavam duas. Além disso, foram identificadas inconsistências textuais em campos categóricos, como a presença de sublinhados (_) em colunas como </a:t>
            </a:r>
            <a:r>
              <a:rPr lang="pt-BR" sz="1000" dirty="0" err="1"/>
              <a:t>status_pedido</a:t>
            </a:r>
            <a:r>
              <a:rPr lang="pt-BR" sz="1000" dirty="0"/>
              <a:t> e </a:t>
            </a:r>
            <a:r>
              <a:rPr lang="pt-BR" sz="1000" dirty="0" err="1"/>
              <a:t>forma_pagamento</a:t>
            </a:r>
            <a:r>
              <a:rPr lang="pt-BR" sz="1000" dirty="0"/>
              <a:t>.</a:t>
            </a:r>
          </a:p>
          <a:p>
            <a:pPr marL="342900" indent="-342900">
              <a:buFont typeface="+mj-lt"/>
              <a:buAutoNum type="arabicPeriod" startAt="3"/>
            </a:pPr>
            <a:r>
              <a:rPr lang="pt-BR" sz="1400" dirty="0"/>
              <a:t>Tratativa</a:t>
            </a:r>
          </a:p>
          <a:p>
            <a:pPr marL="457200" lvl="1" indent="0">
              <a:buNone/>
            </a:pPr>
            <a:r>
              <a:rPr lang="pt-BR" sz="1000" dirty="0"/>
              <a:t>No caso dos valores para resolução desse problema, foi implementada uma função de padronização que converte os valores para o formato numérico adequado e os reescreve com duas casas decimais fixas, garantindo consistência e aderência a padrões financeiros.</a:t>
            </a:r>
          </a:p>
          <a:p>
            <a:pPr marL="457200" lvl="1" indent="0">
              <a:buNone/>
            </a:pPr>
            <a:r>
              <a:rPr lang="pt-BR" sz="1000" dirty="0"/>
              <a:t>Nos campos </a:t>
            </a:r>
            <a:r>
              <a:rPr lang="pt-BR" sz="1000" dirty="0" err="1"/>
              <a:t>status_pedido</a:t>
            </a:r>
            <a:r>
              <a:rPr lang="pt-BR" sz="1000" dirty="0"/>
              <a:t> e </a:t>
            </a:r>
            <a:r>
              <a:rPr lang="pt-BR" sz="1000" dirty="0" err="1"/>
              <a:t>forma_pagamento</a:t>
            </a:r>
            <a:r>
              <a:rPr lang="pt-BR" sz="1000" dirty="0"/>
              <a:t>, foi observada a presença de sublinhados (_) em alguns registros. Para corrigir esse cenário, foi aplicada uma função de limpeza que substitui os sublinhados por espaços, mantendo o significado original dos valores e melhorando sua legibilidade. </a:t>
            </a:r>
          </a:p>
          <a:p>
            <a:pPr marL="457200" lvl="1" indent="0">
              <a:buNone/>
            </a:pPr>
            <a:r>
              <a:rPr lang="pt-BR" sz="1000" dirty="0"/>
              <a:t>Além disso foram identificadas inconsistências relacionadas à acentuação em campos textuais nos dados de clientes e itens de pedido, para evitar problemas em análises futuras, foi criada uma função específica para remoção de acentos e caracteres especiais, preservando apenas a forma padronizada dos textos. Essas tratativas foram aplicadas de forma modular e reutilizável, garantindo que cada base passasse pelo mesmo processo de padronização antes do carregamento final e do merge entre os </a:t>
            </a:r>
            <a:r>
              <a:rPr lang="pt-BR" sz="1000" dirty="0" err="1"/>
              <a:t>datasets</a:t>
            </a:r>
            <a:r>
              <a:rPr lang="pt-BR" sz="1000" dirty="0"/>
              <a:t>.</a:t>
            </a:r>
          </a:p>
        </p:txBody>
      </p:sp>
    </p:spTree>
    <p:extLst>
      <p:ext uri="{BB962C8B-B14F-4D97-AF65-F5344CB8AC3E}">
        <p14:creationId xmlns:p14="http://schemas.microsoft.com/office/powerpoint/2010/main" val="1013822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DB63C9-6E0A-0A68-89AA-211A1289DF4F}"/>
              </a:ext>
            </a:extLst>
          </p:cNvPr>
          <p:cNvSpPr>
            <a:spLocks noGrp="1"/>
          </p:cNvSpPr>
          <p:nvPr>
            <p:ph type="title"/>
          </p:nvPr>
        </p:nvSpPr>
        <p:spPr>
          <a:xfrm>
            <a:off x="838200" y="245035"/>
            <a:ext cx="10515600" cy="872004"/>
          </a:xfrm>
        </p:spPr>
        <p:txBody>
          <a:bodyPr>
            <a:normAutofit/>
          </a:bodyPr>
          <a:lstStyle/>
          <a:p>
            <a:r>
              <a:rPr lang="pt-BR" sz="3600" dirty="0"/>
              <a:t>Análises numéricas</a:t>
            </a:r>
          </a:p>
        </p:txBody>
      </p:sp>
      <p:sp>
        <p:nvSpPr>
          <p:cNvPr id="7" name="Espaço Reservado para Conteúdo 6">
            <a:extLst>
              <a:ext uri="{FF2B5EF4-FFF2-40B4-BE49-F238E27FC236}">
                <a16:creationId xmlns:a16="http://schemas.microsoft.com/office/drawing/2014/main" id="{A0039785-0708-CD01-2279-007D56DCE9E4}"/>
              </a:ext>
            </a:extLst>
          </p:cNvPr>
          <p:cNvSpPr>
            <a:spLocks noGrp="1"/>
          </p:cNvSpPr>
          <p:nvPr>
            <p:ph idx="1"/>
          </p:nvPr>
        </p:nvSpPr>
        <p:spPr>
          <a:xfrm>
            <a:off x="838200" y="1253331"/>
            <a:ext cx="10515600" cy="4351338"/>
          </a:xfrm>
        </p:spPr>
        <p:txBody>
          <a:bodyPr>
            <a:normAutofit/>
          </a:bodyPr>
          <a:lstStyle/>
          <a:p>
            <a:r>
              <a:rPr lang="pt-BR" sz="1600" dirty="0"/>
              <a:t>Raciocínio</a:t>
            </a:r>
          </a:p>
          <a:p>
            <a:pPr marL="457200" lvl="2" indent="0">
              <a:spcBef>
                <a:spcPts val="1000"/>
              </a:spcBef>
              <a:buNone/>
            </a:pPr>
            <a:r>
              <a:rPr lang="pt-BR" sz="1200" dirty="0"/>
              <a:t>O primeiro passo da análise foi garantir a consistência dos dados, para que pudessem ser utilizados corretamente em cálculos e agrupamentos. Em seguida, definiu-se como regra de negócio considerar apenas pedidos com status “pago”, assegurando que os indicadores refletissem exclusivamente vendas efetivamente realizadas.</a:t>
            </a:r>
          </a:p>
          <a:p>
            <a:pPr marL="457200" lvl="2" indent="0">
              <a:spcBef>
                <a:spcPts val="1000"/>
              </a:spcBef>
              <a:buNone/>
            </a:pPr>
            <a:r>
              <a:rPr lang="pt-BR" sz="1200" dirty="0"/>
              <a:t>A partir disso, os dados foram organizados por ano e mês, permitindo analisar a evolução do faturamento e da quantidade de pedidos ao longo dos períodos. O faturamento mensal foi calculado por meio da soma dos valores totais dos pedidos, enquanto a quantidade de pedidos pagos foi obtida com a contagem de pedidos distintos em cada mês.</a:t>
            </a:r>
          </a:p>
          <a:p>
            <a:pPr marL="457200" lvl="2" indent="0">
              <a:spcBef>
                <a:spcPts val="1000"/>
              </a:spcBef>
              <a:buNone/>
            </a:pPr>
            <a:r>
              <a:rPr lang="pt-BR" sz="1200" dirty="0"/>
              <a:t>Para métricas como ticket médio, o raciocínio foi dividir o faturamento mensal pela quantidade de pedidos pagos, possibilitando avaliar se o crescimento vinha de aumento de volume ou de valor por pedido. Na análise geográfica, os pedidos pagos foram associados aos estados dos clientes, e os estados foram ranqueados com base no faturamento total, evidenciando concentração regional de vendas.</a:t>
            </a:r>
          </a:p>
          <a:p>
            <a:pPr marL="457200" lvl="2" indent="0">
              <a:spcBef>
                <a:spcPts val="1000"/>
              </a:spcBef>
              <a:buNone/>
            </a:pPr>
            <a:r>
              <a:rPr lang="pt-BR" sz="1200" dirty="0"/>
              <a:t>Já para clientes ativos e inativos, utilizou-se como referência a data mais recente de pedido, classificando como ativos aqueles que realizaram ao menos um pedido pago nos últimos 90 dias, e como inativos os demais. Por fim, a análise por categoria de produto foi construída a partir dos itens de pedido, somando o produto entre quantidade e preço unitário, o que permitiu identificar quais categorias realmente geram maior receita.</a:t>
            </a:r>
          </a:p>
          <a:p>
            <a:pPr marL="457200" lvl="1" indent="0">
              <a:buNone/>
            </a:pPr>
            <a:endParaRPr lang="pt-BR" sz="1200" dirty="0"/>
          </a:p>
        </p:txBody>
      </p:sp>
    </p:spTree>
    <p:extLst>
      <p:ext uri="{BB962C8B-B14F-4D97-AF65-F5344CB8AC3E}">
        <p14:creationId xmlns:p14="http://schemas.microsoft.com/office/powerpoint/2010/main" val="3206383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288E41-734E-BC2F-E4AF-CB54C2C3EE6E}"/>
              </a:ext>
            </a:extLst>
          </p:cNvPr>
          <p:cNvSpPr>
            <a:spLocks noGrp="1"/>
          </p:cNvSpPr>
          <p:nvPr>
            <p:ph type="title"/>
          </p:nvPr>
        </p:nvSpPr>
        <p:spPr>
          <a:xfrm>
            <a:off x="838200" y="365126"/>
            <a:ext cx="10515600" cy="459628"/>
          </a:xfrm>
        </p:spPr>
        <p:txBody>
          <a:bodyPr>
            <a:noAutofit/>
          </a:bodyPr>
          <a:lstStyle/>
          <a:p>
            <a:r>
              <a:rPr lang="pt-BR" sz="3600" dirty="0"/>
              <a:t>Visualizações</a:t>
            </a:r>
          </a:p>
        </p:txBody>
      </p:sp>
      <p:graphicFrame>
        <p:nvGraphicFramePr>
          <p:cNvPr id="6" name="Espaço Reservado para Conteúdo 5">
            <a:extLst>
              <a:ext uri="{FF2B5EF4-FFF2-40B4-BE49-F238E27FC236}">
                <a16:creationId xmlns:a16="http://schemas.microsoft.com/office/drawing/2014/main" id="{92D2BF70-EBC0-8CCC-A202-39A4C21D09E2}"/>
              </a:ext>
            </a:extLst>
          </p:cNvPr>
          <p:cNvGraphicFramePr>
            <a:graphicFrameLocks noGrp="1"/>
          </p:cNvGraphicFramePr>
          <p:nvPr>
            <p:ph idx="1"/>
            <p:extLst>
              <p:ext uri="{D42A27DB-BD31-4B8C-83A1-F6EECF244321}">
                <p14:modId xmlns:p14="http://schemas.microsoft.com/office/powerpoint/2010/main" val="539747320"/>
              </p:ext>
            </p:extLst>
          </p:nvPr>
        </p:nvGraphicFramePr>
        <p:xfrm>
          <a:off x="421341" y="824754"/>
          <a:ext cx="10793506" cy="27431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Gráfico 6">
            <a:extLst>
              <a:ext uri="{FF2B5EF4-FFF2-40B4-BE49-F238E27FC236}">
                <a16:creationId xmlns:a16="http://schemas.microsoft.com/office/drawing/2014/main" id="{F8BC8735-EA17-9F75-86FB-6704BDFE269C}"/>
              </a:ext>
            </a:extLst>
          </p:cNvPr>
          <p:cNvGraphicFramePr>
            <a:graphicFrameLocks/>
          </p:cNvGraphicFramePr>
          <p:nvPr>
            <p:extLst>
              <p:ext uri="{D42A27DB-BD31-4B8C-83A1-F6EECF244321}">
                <p14:modId xmlns:p14="http://schemas.microsoft.com/office/powerpoint/2010/main" val="4222773841"/>
              </p:ext>
            </p:extLst>
          </p:nvPr>
        </p:nvGraphicFramePr>
        <p:xfrm>
          <a:off x="421341" y="3749674"/>
          <a:ext cx="4988862"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Gráfico 7">
            <a:extLst>
              <a:ext uri="{FF2B5EF4-FFF2-40B4-BE49-F238E27FC236}">
                <a16:creationId xmlns:a16="http://schemas.microsoft.com/office/drawing/2014/main" id="{3BD08ED1-FC63-6BB6-F456-D04A2939BC17}"/>
              </a:ext>
            </a:extLst>
          </p:cNvPr>
          <p:cNvGraphicFramePr>
            <a:graphicFrameLocks/>
          </p:cNvGraphicFramePr>
          <p:nvPr>
            <p:extLst>
              <p:ext uri="{D42A27DB-BD31-4B8C-83A1-F6EECF244321}">
                <p14:modId xmlns:p14="http://schemas.microsoft.com/office/powerpoint/2010/main" val="1661904242"/>
              </p:ext>
            </p:extLst>
          </p:nvPr>
        </p:nvGraphicFramePr>
        <p:xfrm>
          <a:off x="6477000" y="3749674"/>
          <a:ext cx="48768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71110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17CEFF-0C3C-7F48-B5FA-212225562FDC}"/>
              </a:ext>
            </a:extLst>
          </p:cNvPr>
          <p:cNvSpPr>
            <a:spLocks noGrp="1"/>
          </p:cNvSpPr>
          <p:nvPr>
            <p:ph type="title"/>
          </p:nvPr>
        </p:nvSpPr>
        <p:spPr>
          <a:xfrm>
            <a:off x="838200" y="365125"/>
            <a:ext cx="10515600" cy="549275"/>
          </a:xfrm>
        </p:spPr>
        <p:txBody>
          <a:bodyPr>
            <a:noAutofit/>
          </a:bodyPr>
          <a:lstStyle/>
          <a:p>
            <a:r>
              <a:rPr lang="pt-BR" sz="3600" dirty="0"/>
              <a:t>Insights e comunicação </a:t>
            </a:r>
          </a:p>
        </p:txBody>
      </p:sp>
      <p:sp>
        <p:nvSpPr>
          <p:cNvPr id="3" name="Espaço Reservado para Conteúdo 2">
            <a:extLst>
              <a:ext uri="{FF2B5EF4-FFF2-40B4-BE49-F238E27FC236}">
                <a16:creationId xmlns:a16="http://schemas.microsoft.com/office/drawing/2014/main" id="{DF3302FA-7ABC-EB2B-3CDE-1C801022E551}"/>
              </a:ext>
            </a:extLst>
          </p:cNvPr>
          <p:cNvSpPr>
            <a:spLocks noGrp="1"/>
          </p:cNvSpPr>
          <p:nvPr>
            <p:ph idx="1"/>
          </p:nvPr>
        </p:nvSpPr>
        <p:spPr>
          <a:xfrm>
            <a:off x="838200" y="1276350"/>
            <a:ext cx="10515600" cy="4667250"/>
          </a:xfrm>
        </p:spPr>
        <p:txBody>
          <a:bodyPr>
            <a:normAutofit lnSpcReduction="10000"/>
          </a:bodyPr>
          <a:lstStyle/>
          <a:p>
            <a:pPr marL="457200" lvl="1" indent="0">
              <a:buNone/>
            </a:pPr>
            <a:r>
              <a:rPr lang="pt-BR" sz="1400" dirty="0"/>
              <a:t>A análise das vendas ao longo do tempo evidencia variações mensais relevantes no volume de pedidos pagos, indicando períodos de maior e menor engajamento dos clientes. Observa-se que o faturamento acompanha diretamente a quantidade de pedidos, sugerindo que o crescimento das vendas está mais associado ao aumento de frequência de compra do que à elevação do ticket médio. Também foi analisado que campanha de marketing  da semana do consumidor, teve um grande sucesso onde foi alavancada as venda comparadas a janeiro e fevereiro, dentro das campanhas com mais resposta positiva a </a:t>
            </a:r>
            <a:r>
              <a:rPr lang="pt-BR" sz="1400" dirty="0" err="1"/>
              <a:t>google_ads</a:t>
            </a:r>
            <a:r>
              <a:rPr lang="pt-BR" sz="1400" dirty="0"/>
              <a:t> foi a que obteve o maior retorno financeiro .</a:t>
            </a:r>
          </a:p>
          <a:p>
            <a:pPr marL="457200" lvl="1" indent="0">
              <a:buNone/>
            </a:pPr>
            <a:r>
              <a:rPr lang="pt-BR" sz="1400" dirty="0"/>
              <a:t>Ao avaliar o comportamento dos clientes por mês, é possível identificar padrões de recorrência, com parte dos clientes concentrando suas compras em poucos períodos específicos. A análise por canal de origem revela diferenças claras de desempenho, com alguns canais apresentando maior conversão em pedidos pagos, enquanto outros geram volume de acesso, mas menor retorno financeiro. </a:t>
            </a:r>
          </a:p>
          <a:p>
            <a:pPr marL="457200" lvl="1" indent="0">
              <a:buNone/>
            </a:pPr>
            <a:r>
              <a:rPr lang="pt-BR" sz="1400" dirty="0"/>
              <a:t>Em termos geográficos, poucos estados concentram a maior parte do faturamento, o que indica dependência regional e possíveis riscos de concentração de receita. As categorias de produto mais vendidas representam uma parcela significativa do faturamento total, reforçando a concentração das vendas em segmentos específicos do portfólio.</a:t>
            </a:r>
          </a:p>
          <a:p>
            <a:pPr marL="457200" lvl="1" indent="0">
              <a:buNone/>
            </a:pPr>
            <a:r>
              <a:rPr lang="pt-BR" sz="1400" dirty="0"/>
              <a:t>A análise de clientes ativos e inativos mostra uma proporção relevante de clientes que deixam de comprar após um curto período, sinalizando oportunidades de retenção. A análise temporal também permite identificar padrões de recorrência, mostrando que parte dos clientes compra de forma pontual, enquanto outro grupo apresenta comportamento mais recorrente. Esses resultados indicam que há espaço para melhorar a fidelização e estimular a recompra ao longo do tempo.</a:t>
            </a:r>
          </a:p>
          <a:p>
            <a:pPr lvl="1"/>
            <a:r>
              <a:rPr lang="pt-BR" sz="1400" dirty="0"/>
              <a:t>Para pontos de melhoria </a:t>
            </a:r>
          </a:p>
          <a:p>
            <a:pPr marL="457200" lvl="1" indent="0">
              <a:buNone/>
            </a:pPr>
            <a:r>
              <a:rPr lang="pt-BR" sz="1400" dirty="0"/>
              <a:t>Acredito que podemos aprofundar a análise de comportamento por canal e período, priorizando investimentos nos canais com maior taxa de conversão em pedidos pagos e ajustando estratégias nos canais com baixo retorno.</a:t>
            </a:r>
          </a:p>
          <a:p>
            <a:pPr marL="457200" lvl="1" indent="0">
              <a:buNone/>
            </a:pPr>
            <a:r>
              <a:rPr lang="pt-BR" sz="1400" dirty="0"/>
              <a:t>Desenvolver estratégias de retenção baseadas no ciclo de compra, como comunicações automáticas ou ofertas personalizadas para clientes que demonstram queda na frequência de compra ao longo dos meses.</a:t>
            </a:r>
          </a:p>
          <a:p>
            <a:pPr marL="457200" lvl="1" indent="0">
              <a:buNone/>
            </a:pPr>
            <a:r>
              <a:rPr lang="pt-BR" sz="1400" dirty="0"/>
              <a:t>E também usar um foco estratégico nos estados e categorias com maior faturamento, direcionando campanhas de marketing e investimentos logísticos para regiões e produtos com maior retorno financeiro.</a:t>
            </a:r>
          </a:p>
          <a:p>
            <a:pPr marL="457200" lvl="1" indent="0">
              <a:buNone/>
            </a:pPr>
            <a:endParaRPr lang="pt-BR" sz="1400" dirty="0"/>
          </a:p>
          <a:p>
            <a:pPr marL="457200" lvl="1" indent="0">
              <a:buNone/>
            </a:pPr>
            <a:endParaRPr lang="pt-BR" sz="1400" dirty="0"/>
          </a:p>
        </p:txBody>
      </p:sp>
    </p:spTree>
    <p:extLst>
      <p:ext uri="{BB962C8B-B14F-4D97-AF65-F5344CB8AC3E}">
        <p14:creationId xmlns:p14="http://schemas.microsoft.com/office/powerpoint/2010/main" val="127645289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1162</Words>
  <Application>Microsoft Office PowerPoint</Application>
  <PresentationFormat>Widescreen</PresentationFormat>
  <Paragraphs>43</Paragraphs>
  <Slides>6</Slides>
  <Notes>2</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6</vt:i4>
      </vt:variant>
    </vt:vector>
  </HeadingPairs>
  <TitlesOfParts>
    <vt:vector size="10" baseType="lpstr">
      <vt:lpstr>Arial</vt:lpstr>
      <vt:lpstr>Calibri</vt:lpstr>
      <vt:lpstr>Calibri Light</vt:lpstr>
      <vt:lpstr>Tema do Office</vt:lpstr>
      <vt:lpstr>Estudo de Caso </vt:lpstr>
      <vt:lpstr>Contexto do estudo LojaFácil</vt:lpstr>
      <vt:lpstr>Entendimento e preparação dos dados </vt:lpstr>
      <vt:lpstr>Análises numéricas</vt:lpstr>
      <vt:lpstr>Visualizações</vt:lpstr>
      <vt:lpstr>Insights e comunicação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Caique Archanjo</dc:creator>
  <cp:lastModifiedBy>Caique Archanjo</cp:lastModifiedBy>
  <cp:revision>3</cp:revision>
  <dcterms:created xsi:type="dcterms:W3CDTF">2025-12-23T16:27:02Z</dcterms:created>
  <dcterms:modified xsi:type="dcterms:W3CDTF">2025-12-23T20:02:33Z</dcterms:modified>
</cp:coreProperties>
</file>